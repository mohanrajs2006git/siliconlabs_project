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Calibri (MS)" charset="1" panose="020F0502020204030204"/>
      <p:regular r:id="rId15"/>
    </p:embeddedFont>
    <p:embeddedFont>
      <p:font typeface="Baskerville Display PT Bold" charset="1" panose="02030702080406020203"/>
      <p:regular r:id="rId16"/>
    </p:embeddedFont>
    <p:embeddedFont>
      <p:font typeface="Times New Roman MT" charset="1" panose="020305020704050203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235" y="1087977"/>
            <a:ext cx="17801530" cy="3808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9"/>
              </a:lnSpc>
            </a:pPr>
            <a:r>
              <a:rPr lang="en-US" b="true" sz="8024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Edge AI-Based Smart Patient Monitoring and Assistance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74927" y="6548757"/>
            <a:ext cx="7249540" cy="453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0"/>
              </a:lnSpc>
            </a:pPr>
            <a:r>
              <a:rPr lang="en-US" b="true" sz="4000" spc="68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  <a:p>
            <a:pPr algn="ctr">
              <a:lnSpc>
                <a:spcPts val="7240"/>
              </a:lnSpc>
            </a:pPr>
            <a:r>
              <a:rPr lang="en-US" b="true" sz="4000" spc="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NASHRIN FATHIMA K</a:t>
            </a:r>
          </a:p>
          <a:p>
            <a:pPr algn="ctr">
              <a:lnSpc>
                <a:spcPts val="7240"/>
              </a:lnSpc>
            </a:pPr>
            <a:r>
              <a:rPr lang="en-US" b="true" sz="4000" spc="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MOHAN RAJ S</a:t>
            </a:r>
          </a:p>
          <a:p>
            <a:pPr algn="ctr">
              <a:lnSpc>
                <a:spcPts val="7240"/>
              </a:lnSpc>
            </a:pPr>
            <a:r>
              <a:rPr lang="en-US" b="true" sz="4000" spc="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7240"/>
              </a:lnSpc>
            </a:pP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548757"/>
            <a:ext cx="7249540" cy="270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0"/>
              </a:lnSpc>
            </a:pPr>
            <a:r>
              <a:rPr lang="en-US" b="true" sz="4000" spc="68" u="sng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</a:t>
            </a:r>
          </a:p>
          <a:p>
            <a:pPr algn="ctr">
              <a:lnSpc>
                <a:spcPts val="7240"/>
              </a:lnSpc>
            </a:pPr>
            <a:r>
              <a:rPr lang="en-US" b="true" sz="4000" spc="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CREATIVE CREW</a:t>
            </a:r>
            <a:r>
              <a:rPr lang="en-US" b="true" sz="4000" spc="68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7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17937" y="2369134"/>
            <a:ext cx="7874602" cy="5246454"/>
          </a:xfrm>
          <a:custGeom>
            <a:avLst/>
            <a:gdLst/>
            <a:ahLst/>
            <a:cxnLst/>
            <a:rect r="r" b="b" t="t" l="l"/>
            <a:pathLst>
              <a:path h="5246454" w="7874602">
                <a:moveTo>
                  <a:pt x="0" y="0"/>
                </a:moveTo>
                <a:lnTo>
                  <a:pt x="7874602" y="0"/>
                </a:lnTo>
                <a:lnTo>
                  <a:pt x="7874602" y="5246454"/>
                </a:lnTo>
                <a:lnTo>
                  <a:pt x="0" y="5246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0100" y="1076325"/>
            <a:ext cx="1189608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4"/>
              </a:lnSpc>
            </a:pPr>
            <a:r>
              <a:rPr lang="en-US" sz="6750" b="true">
                <a:solidFill>
                  <a:srgbClr val="1C2120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0100" y="2226259"/>
            <a:ext cx="9417837" cy="806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41"/>
              </a:lnSpc>
            </a:pPr>
            <a:r>
              <a:rPr lang="en-US" sz="2590" spc="15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home and healthc</a:t>
            </a: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are environments, elderly individuals, post-operative patients, and people with limited mobility often require assistance for basic daily needs.Ex</a:t>
            </a: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isting systems typically use a s</a:t>
            </a: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ngle alert mechanism (like a buzzer), which does not clearly indicate the user's specific requirement. </a:t>
            </a: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 marL="0" indent="0" lvl="0">
              <a:lnSpc>
                <a:spcPts val="4041"/>
              </a:lnSpc>
            </a:pP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leads to: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Delayed response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Miscommunication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Increased dependency on c</a:t>
            </a: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aregiver</a:t>
            </a: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</a:p>
          <a:p>
            <a:pPr algn="just" marL="0" indent="0" lvl="0">
              <a:lnSpc>
                <a:spcPts val="4041"/>
              </a:lnSpc>
            </a:pPr>
            <a:r>
              <a:rPr lang="en-US" sz="2590" spc="15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There is an urgent need for a solution that is: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Enables elderly and disabled users to express</a:t>
            </a:r>
          </a:p>
          <a:p>
            <a:pPr algn="just">
              <a:lnSpc>
                <a:spcPts val="4041"/>
              </a:lnSpc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specific needs easily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Ensures rel</a:t>
            </a: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iable and accurate communication</a:t>
            </a:r>
          </a:p>
          <a:p>
            <a:pPr algn="just" marL="559294" indent="-279647" lvl="1">
              <a:lnSpc>
                <a:spcPts val="4041"/>
              </a:lnSpc>
              <a:buFont typeface="Arial"/>
              <a:buChar char="•"/>
            </a:pP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Is a</a:t>
            </a:r>
            <a:r>
              <a:rPr lang="en-US" sz="2590" spc="155" u="none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ffordable and scalable for all environments</a:t>
            </a:r>
          </a:p>
          <a:p>
            <a:pPr algn="just" marL="0" indent="0" lvl="0">
              <a:lnSpc>
                <a:spcPts val="372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028700"/>
            <a:ext cx="9952264" cy="1301659"/>
            <a:chOff x="0" y="0"/>
            <a:chExt cx="13269685" cy="17355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69685" cy="1735545"/>
            </a:xfrm>
            <a:custGeom>
              <a:avLst/>
              <a:gdLst/>
              <a:ahLst/>
              <a:cxnLst/>
              <a:rect r="r" b="b" t="t" l="l"/>
              <a:pathLst>
                <a:path h="1735545" w="13269685">
                  <a:moveTo>
                    <a:pt x="0" y="0"/>
                  </a:moveTo>
                  <a:lnTo>
                    <a:pt x="13269685" y="0"/>
                  </a:lnTo>
                  <a:lnTo>
                    <a:pt x="13269685" y="1735545"/>
                  </a:lnTo>
                  <a:lnTo>
                    <a:pt x="0" y="1735545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3269685" cy="1649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90"/>
                </a:lnSpc>
              </a:pPr>
              <a:r>
                <a:rPr lang="en-US" b="true" sz="6750" spc="121">
                  <a:solidFill>
                    <a:srgbClr val="000000"/>
                  </a:solidFill>
                  <a:latin typeface="Baskerville Display PT Bold"/>
                  <a:ea typeface="Baskerville Display PT Bold"/>
                  <a:cs typeface="Baskerville Display PT Bold"/>
                  <a:sym typeface="Baskerville Display PT Bold"/>
                </a:rPr>
                <a:t>PR</a:t>
              </a:r>
              <a:r>
                <a:rPr lang="en-US" b="true" sz="6750" spc="121">
                  <a:solidFill>
                    <a:srgbClr val="000000"/>
                  </a:solidFill>
                  <a:latin typeface="Baskerville Display PT Bold"/>
                  <a:ea typeface="Baskerville Display PT Bold"/>
                  <a:cs typeface="Baskerville Display PT Bold"/>
                  <a:sym typeface="Baskerville Display PT Bold"/>
                </a:rPr>
                <a:t>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0100" y="2216059"/>
            <a:ext cx="15183711" cy="6568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Intuitive Patient Interaction:</a:t>
            </a:r>
          </a:p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Touch (button) and voice input enable easy and clear communication</a:t>
            </a:r>
          </a:p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patient   needs.</a:t>
            </a:r>
          </a:p>
          <a:p>
            <a:pPr algn="just">
              <a:lnSpc>
                <a:spcPts val="4319"/>
              </a:lnSpc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Edge AI Processing:</a:t>
            </a:r>
          </a:p>
          <a:p>
            <a:pPr algn="just">
              <a:lnSpc>
                <a:spcPts val="4319"/>
              </a:lnSpc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On-device feature extraction and TinyML classification ensure fast and accurate request recognition.</a:t>
            </a:r>
          </a:p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On-Device TinyML:</a:t>
            </a:r>
          </a:p>
          <a:p>
            <a:pPr algn="just">
              <a:lnSpc>
                <a:spcPts val="4319"/>
              </a:lnSpc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Local processing provides low latency, high reliability, and eliminates cloud dependency.</a:t>
            </a:r>
          </a:p>
          <a:p>
            <a:pPr algn="just">
              <a:lnSpc>
                <a:spcPts val="4319"/>
              </a:lnSpc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Caregiver Alerts:</a:t>
            </a:r>
          </a:p>
          <a:p>
            <a:pPr algn="just">
              <a:lnSpc>
                <a:spcPts val="4319"/>
              </a:lnSpc>
              <a:spcBef>
                <a:spcPct val="0"/>
              </a:spcBef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Real-time notifications via  audio output (speaker) clearly indicate the patient’s specific need.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493371" y="3349425"/>
            <a:ext cx="11301259" cy="3588150"/>
          </a:xfrm>
          <a:custGeom>
            <a:avLst/>
            <a:gdLst/>
            <a:ahLst/>
            <a:cxnLst/>
            <a:rect r="r" b="b" t="t" l="l"/>
            <a:pathLst>
              <a:path h="3588150" w="11301259">
                <a:moveTo>
                  <a:pt x="0" y="0"/>
                </a:moveTo>
                <a:lnTo>
                  <a:pt x="11301258" y="0"/>
                </a:lnTo>
                <a:lnTo>
                  <a:pt x="11301258" y="3588150"/>
                </a:lnTo>
                <a:lnTo>
                  <a:pt x="0" y="358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9815" y="2977125"/>
            <a:ext cx="16704659" cy="5318461"/>
          </a:xfrm>
          <a:custGeom>
            <a:avLst/>
            <a:gdLst/>
            <a:ahLst/>
            <a:cxnLst/>
            <a:rect r="r" b="b" t="t" l="l"/>
            <a:pathLst>
              <a:path h="5318461" w="16704659">
                <a:moveTo>
                  <a:pt x="0" y="0"/>
                </a:moveTo>
                <a:lnTo>
                  <a:pt x="16704659" y="0"/>
                </a:lnTo>
                <a:lnTo>
                  <a:pt x="16704659" y="5318461"/>
                </a:lnTo>
                <a:lnTo>
                  <a:pt x="0" y="5318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" t="-176" r="-31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9815" y="762825"/>
            <a:ext cx="1189608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4"/>
              </a:lnSpc>
            </a:pPr>
            <a:r>
              <a:rPr lang="en-US" sz="6750" b="true">
                <a:solidFill>
                  <a:srgbClr val="1C2120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BLOCK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074453" y="2321969"/>
            <a:ext cx="6936331" cy="6936331"/>
          </a:xfrm>
          <a:custGeom>
            <a:avLst/>
            <a:gdLst/>
            <a:ahLst/>
            <a:cxnLst/>
            <a:rect r="r" b="b" t="t" l="l"/>
            <a:pathLst>
              <a:path h="6936331" w="6936331">
                <a:moveTo>
                  <a:pt x="0" y="0"/>
                </a:moveTo>
                <a:lnTo>
                  <a:pt x="6936332" y="0"/>
                </a:lnTo>
                <a:lnTo>
                  <a:pt x="6936332" y="6936331"/>
                </a:lnTo>
                <a:lnTo>
                  <a:pt x="0" y="6936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8311" y="2321969"/>
            <a:ext cx="6936331" cy="6936331"/>
          </a:xfrm>
          <a:custGeom>
            <a:avLst/>
            <a:gdLst/>
            <a:ahLst/>
            <a:cxnLst/>
            <a:rect r="r" b="b" t="t" l="l"/>
            <a:pathLst>
              <a:path h="6936331" w="6936331">
                <a:moveTo>
                  <a:pt x="0" y="0"/>
                </a:moveTo>
                <a:lnTo>
                  <a:pt x="6936331" y="0"/>
                </a:lnTo>
                <a:lnTo>
                  <a:pt x="6936331" y="6936331"/>
                </a:lnTo>
                <a:lnTo>
                  <a:pt x="0" y="6936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6003" y="3464033"/>
            <a:ext cx="6180947" cy="601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IWG917 (Edge AI MCU)</a:t>
            </a:r>
          </a:p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 Microphone (Voice Input)</a:t>
            </a:r>
          </a:p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Push Button (Manual Input)</a:t>
            </a:r>
          </a:p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DF Mini MP3 Player</a:t>
            </a:r>
          </a:p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Speaker (Audio Output)</a:t>
            </a:r>
          </a:p>
          <a:p>
            <a:pPr algn="just" marL="703339" indent="-351670" lvl="1">
              <a:lnSpc>
                <a:spcPts val="5994"/>
              </a:lnSpc>
              <a:buFont typeface="Arial"/>
              <a:buChar char="•"/>
            </a:pPr>
            <a:r>
              <a:rPr lang="en-US" sz="325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Power Supply</a:t>
            </a:r>
          </a:p>
          <a:p>
            <a:pPr algn="just">
              <a:lnSpc>
                <a:spcPts val="599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62825"/>
            <a:ext cx="8631074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4"/>
              </a:lnSpc>
            </a:pPr>
            <a:r>
              <a:rPr lang="en-US" b="true" sz="6750">
                <a:solidFill>
                  <a:srgbClr val="1C2120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SYSTEM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40125" y="2516876"/>
            <a:ext cx="241270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u="sng">
                <a:solidFill>
                  <a:srgbClr val="CF4D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</a:t>
            </a:r>
            <a:r>
              <a:rPr lang="en-US" b="true" sz="3999" u="sng">
                <a:solidFill>
                  <a:srgbClr val="CF4D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14279" y="2516876"/>
            <a:ext cx="18566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u="sng">
                <a:solidFill>
                  <a:srgbClr val="CF4D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3999" u="sng">
                <a:solidFill>
                  <a:srgbClr val="CF4D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dge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6022" y="3125130"/>
            <a:ext cx="7199755" cy="6683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96"/>
              </a:lnSpc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Model: TinyML Keyword Classifier</a:t>
            </a:r>
          </a:p>
          <a:p>
            <a:pPr algn="just">
              <a:lnSpc>
                <a:spcPts val="5896"/>
              </a:lnSpc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On-Device Processing (Edge AI)</a:t>
            </a:r>
          </a:p>
          <a:p>
            <a:pPr algn="just">
              <a:lnSpc>
                <a:spcPts val="5896"/>
              </a:lnSpc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Detects:</a:t>
            </a:r>
          </a:p>
          <a:p>
            <a:pPr algn="just" marL="691912" indent="-345956" lvl="1">
              <a:lnSpc>
                <a:spcPts val="589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Food</a:t>
            </a:r>
          </a:p>
          <a:p>
            <a:pPr algn="just" marL="691912" indent="-345956" lvl="1">
              <a:lnSpc>
                <a:spcPts val="589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Water</a:t>
            </a:r>
          </a:p>
          <a:p>
            <a:pPr algn="just" marL="691912" indent="-345956" lvl="1">
              <a:lnSpc>
                <a:spcPts val="589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Restroom </a:t>
            </a:r>
          </a:p>
          <a:p>
            <a:pPr algn="just" marL="691912" indent="-345956" lvl="1">
              <a:lnSpc>
                <a:spcPts val="589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Emergency</a:t>
            </a:r>
          </a:p>
          <a:p>
            <a:pPr algn="just" marL="691912" indent="-345956" lvl="1">
              <a:lnSpc>
                <a:spcPts val="589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Pain</a:t>
            </a:r>
          </a:p>
          <a:p>
            <a:pPr algn="just">
              <a:lnSpc>
                <a:spcPts val="58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028700"/>
            <a:ext cx="9952264" cy="1301659"/>
            <a:chOff x="0" y="0"/>
            <a:chExt cx="13269685" cy="17355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69685" cy="1735545"/>
            </a:xfrm>
            <a:custGeom>
              <a:avLst/>
              <a:gdLst/>
              <a:ahLst/>
              <a:cxnLst/>
              <a:rect r="r" b="b" t="t" l="l"/>
              <a:pathLst>
                <a:path h="1735545" w="13269685">
                  <a:moveTo>
                    <a:pt x="0" y="0"/>
                  </a:moveTo>
                  <a:lnTo>
                    <a:pt x="13269685" y="0"/>
                  </a:lnTo>
                  <a:lnTo>
                    <a:pt x="13269685" y="1735545"/>
                  </a:lnTo>
                  <a:lnTo>
                    <a:pt x="0" y="1735545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3269685" cy="1649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90"/>
                </a:lnSpc>
              </a:pPr>
              <a:r>
                <a:rPr lang="en-US" b="true" sz="6750" spc="121">
                  <a:solidFill>
                    <a:srgbClr val="000000"/>
                  </a:solidFill>
                  <a:latin typeface="Baskerville Display PT Bold"/>
                  <a:ea typeface="Baskerville Display PT Bold"/>
                  <a:cs typeface="Baskerville Display PT Bold"/>
                  <a:sym typeface="Baskerville Display PT Bold"/>
                </a:rPr>
                <a:t>ML DETAILS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2025559"/>
            <a:ext cx="15183711" cy="798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Type: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TinyML Keyword Classification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</a:t>
            </a: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ut Shape: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1 × 98 × 1 × 104 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 Shape: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1 × 8  (Food, Water, Restroom, Emergency, Pain, noise, unknown, silence)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 Data Type: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int8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Flash Size: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175.2 KB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On-Device Inference (Edge AI)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Low Latency (Real-Time Response)</a:t>
            </a:r>
          </a:p>
          <a:p>
            <a:pPr algn="l" marL="690879" indent="-345439" lvl="1">
              <a:lnSpc>
                <a:spcPts val="6367"/>
              </a:lnSpc>
              <a:buFont typeface="Arial"/>
              <a:buChar char="•"/>
            </a:pP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3199" spc="1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emory Efficient for Embedded Systems</a:t>
            </a:r>
          </a:p>
          <a:p>
            <a:pPr algn="l">
              <a:lnSpc>
                <a:spcPts val="636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00" y="9534526"/>
            <a:ext cx="4114800" cy="547688"/>
            <a:chOff x="0" y="0"/>
            <a:chExt cx="54864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00"/>
                </a:lnSpc>
              </a:pPr>
              <a:r>
                <a:rPr lang="en-US" sz="175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266964" y="306161"/>
            <a:ext cx="4641738" cy="818078"/>
            <a:chOff x="0" y="0"/>
            <a:chExt cx="6188983" cy="1090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8964" cy="1090803"/>
            </a:xfrm>
            <a:custGeom>
              <a:avLst/>
              <a:gdLst/>
              <a:ahLst/>
              <a:cxnLst/>
              <a:rect r="r" b="b" t="t" l="l"/>
              <a:pathLst>
                <a:path h="1090803" w="6188964">
                  <a:moveTo>
                    <a:pt x="0" y="0"/>
                  </a:moveTo>
                  <a:lnTo>
                    <a:pt x="6188964" y="0"/>
                  </a:lnTo>
                  <a:lnTo>
                    <a:pt x="6188964" y="1090803"/>
                  </a:lnTo>
                  <a:lnTo>
                    <a:pt x="0" y="1090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173" r="0" b="-10132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70879" y="1171864"/>
            <a:ext cx="1189608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4"/>
              </a:lnSpc>
            </a:pPr>
            <a:r>
              <a:rPr lang="en-US" sz="6750" b="true">
                <a:solidFill>
                  <a:srgbClr val="1C2120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FUTURE ENHANCEMENT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2712" y="2565087"/>
            <a:ext cx="15482575" cy="644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539" indent="-374770" lvl="1">
              <a:lnSpc>
                <a:spcPts val="7325"/>
              </a:lnSpc>
              <a:buFont typeface="Arial"/>
              <a:buChar char="•"/>
            </a:pP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Wi-Fi i</a:t>
            </a: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ntegration for mobile app connectivity and real-time caregiver alerts</a:t>
            </a:r>
          </a:p>
          <a:p>
            <a:pPr algn="l" marL="749539" indent="-374770" lvl="1">
              <a:lnSpc>
                <a:spcPts val="7325"/>
              </a:lnSpc>
              <a:buFont typeface="Arial"/>
              <a:buChar char="•"/>
            </a:pP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Advanced ML models for higher accuracy and intelligent decision-making</a:t>
            </a:r>
          </a:p>
          <a:p>
            <a:pPr algn="l" marL="749539" indent="-374770" lvl="1">
              <a:lnSpc>
                <a:spcPts val="7325"/>
              </a:lnSpc>
              <a:buFont typeface="Arial"/>
              <a:buChar char="•"/>
            </a:pPr>
            <a:r>
              <a:rPr lang="en-US" sz="347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Predictive AI</a:t>
            </a: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Anticipate falls or health risks before they occur</a:t>
            </a:r>
          </a:p>
          <a:p>
            <a:pPr algn="l" marL="749539" indent="-374770" lvl="1">
              <a:lnSpc>
                <a:spcPts val="7325"/>
              </a:lnSpc>
              <a:buFont typeface="Arial"/>
              <a:buChar char="•"/>
            </a:pPr>
            <a:r>
              <a:rPr lang="en-US" sz="347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Expanded Sensors:</a:t>
            </a: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Add ECG, SpO₂, and respiratory monitoring for better health insights</a:t>
            </a:r>
          </a:p>
          <a:p>
            <a:pPr algn="l" marL="749539" indent="-374770" lvl="1">
              <a:lnSpc>
                <a:spcPts val="7325"/>
              </a:lnSpc>
              <a:buFont typeface="Arial"/>
              <a:buChar char="•"/>
            </a:pPr>
            <a:r>
              <a:rPr lang="en-US" sz="3471">
                <a:solidFill>
                  <a:srgbClr val="CF4D48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Personalized AI</a:t>
            </a:r>
            <a:r>
              <a:rPr lang="en-US" sz="34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TinyML adapts to individual patient behavior for improved detection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91915" y="4932721"/>
            <a:ext cx="1189608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4"/>
              </a:lnSpc>
            </a:pPr>
            <a:r>
              <a:rPr lang="en-US" sz="6750" b="true">
                <a:solidFill>
                  <a:srgbClr val="1C2120"/>
                </a:solidFill>
                <a:latin typeface="Baskerville Display PT Bold"/>
                <a:ea typeface="Baskerville Display PT Bold"/>
                <a:cs typeface="Baskerville Display PT Bold"/>
                <a:sym typeface="Baskerville Display P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DAG3FqDL1pU</dc:identifier>
  <dcterms:modified xsi:type="dcterms:W3CDTF">2011-08-01T06:04:30Z</dcterms:modified>
  <cp:revision>1</cp:revision>
  <dc:title>Expanded Sensors: Add ECG, SpO₂, and respiratory monitoring for more health insights Predictive AI: Anticipate falls or health risks before they occur Multi-Modal Input: Support gestures and multiple languages for communication Remote Monitoring: Optional</dc:title>
</cp:coreProperties>
</file>